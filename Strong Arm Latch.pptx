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4" roundtripDataSignature="AMtx7mhBFY4RrGbsAybWLfWNzzIF5hkBU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7713927-2DBB-47C0-8D51-E45B35349A4C}">
  <a:tblStyle styleId="{37713927-2DBB-47C0-8D51-E45B35349A4C}"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4" Type="http://customschemas.google.com/relationships/presentationmetadata" Target="meta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8" name="Google Shape;58;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4" name="Google Shape;64;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1" name="Google Shape;81;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2" name="Google Shape;92;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8" name="Google Shape;98;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h6e2fa9bba874bd7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h6e2fa9bba874bd7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8"/>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8"/>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 name="Shape 13"/>
        <p:cNvGrpSpPr/>
        <p:nvPr/>
      </p:nvGrpSpPr>
      <p:grpSpPr>
        <a:xfrm>
          <a:off x="0" y="0"/>
          <a:ext cx="0" cy="0"/>
          <a:chOff x="0" y="0"/>
          <a:chExt cx="0" cy="0"/>
        </a:xfrm>
      </p:grpSpPr>
      <p:sp>
        <p:nvSpPr>
          <p:cNvPr id="14" name="Google Shape;14;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5" name="Google Shape;15;p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6" name="Google Shape;16;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10"/>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1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11"/>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11"/>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3"/>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3"/>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4"/>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5"/>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5"/>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5"/>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5"/>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6"/>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7"/>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7"/>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7"/>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rPr lang="en"/>
              <a:t>Design of Strong Arm Latch</a:t>
            </a:r>
            <a:endParaRPr/>
          </a:p>
        </p:txBody>
      </p:sp>
      <p:sp>
        <p:nvSpPr>
          <p:cNvPr id="55" name="Google Shape;55;p1"/>
          <p:cNvSpPr txBox="1"/>
          <p:nvPr>
            <p:ph idx="1" type="subTitle"/>
          </p:nvPr>
        </p:nvSpPr>
        <p:spPr>
          <a:xfrm>
            <a:off x="5491375" y="3529875"/>
            <a:ext cx="2741400" cy="792600"/>
          </a:xfrm>
          <a:prstGeom prst="rect">
            <a:avLst/>
          </a:prstGeom>
          <a:noFill/>
          <a:ln>
            <a:noFill/>
          </a:ln>
        </p:spPr>
        <p:txBody>
          <a:bodyPr anchorCtr="0" anchor="t" bIns="91425" lIns="91425" spcFirstLastPara="1" rIns="91425" wrap="square" tIns="91425">
            <a:normAutofit fontScale="85000" lnSpcReduction="20000"/>
          </a:bodyPr>
          <a:lstStyle/>
          <a:p>
            <a:pPr indent="0" lvl="0" marL="0" rtl="0" algn="ctr">
              <a:lnSpc>
                <a:spcPct val="100000"/>
              </a:lnSpc>
              <a:spcBef>
                <a:spcPts val="0"/>
              </a:spcBef>
              <a:spcAft>
                <a:spcPts val="0"/>
              </a:spcAft>
              <a:buSzPct val="117647"/>
              <a:buNone/>
            </a:pPr>
            <a:r>
              <a:rPr lang="en">
                <a:solidFill>
                  <a:schemeClr val="dk1"/>
                </a:solidFill>
              </a:rPr>
              <a:t>Presented by</a:t>
            </a:r>
            <a:endParaRPr>
              <a:solidFill>
                <a:schemeClr val="dk1"/>
              </a:solidFill>
            </a:endParaRPr>
          </a:p>
          <a:p>
            <a:pPr indent="0" lvl="0" marL="0" rtl="0" algn="ctr">
              <a:lnSpc>
                <a:spcPct val="100000"/>
              </a:lnSpc>
              <a:spcBef>
                <a:spcPts val="0"/>
              </a:spcBef>
              <a:spcAft>
                <a:spcPts val="0"/>
              </a:spcAft>
              <a:buSzPct val="117647"/>
              <a:buNone/>
            </a:pPr>
            <a:r>
              <a:rPr lang="en">
                <a:solidFill>
                  <a:schemeClr val="dk1"/>
                </a:solidFill>
              </a:rPr>
              <a:t>Madhukar Saini</a:t>
            </a:r>
            <a:endParaRPr>
              <a:solidFill>
                <a:schemeClr val="dk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2"/>
          <p:cNvSpPr txBox="1"/>
          <p:nvPr>
            <p:ph type="title"/>
          </p:nvPr>
        </p:nvSpPr>
        <p:spPr>
          <a:xfrm>
            <a:off x="553875" y="438550"/>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Introduction</a:t>
            </a:r>
            <a:endParaRPr/>
          </a:p>
        </p:txBody>
      </p:sp>
      <p:sp>
        <p:nvSpPr>
          <p:cNvPr id="61" name="Google Shape;61;p2"/>
          <p:cNvSpPr txBox="1"/>
          <p:nvPr/>
        </p:nvSpPr>
        <p:spPr>
          <a:xfrm>
            <a:off x="1051600" y="1155725"/>
            <a:ext cx="6882300" cy="1541100"/>
          </a:xfrm>
          <a:prstGeom prst="rect">
            <a:avLst/>
          </a:prstGeom>
          <a:noFill/>
          <a:ln>
            <a:noFill/>
          </a:ln>
        </p:spPr>
        <p:txBody>
          <a:bodyPr anchorCtr="0" anchor="t" bIns="91425" lIns="91425" spcFirstLastPara="1" rIns="91425" wrap="square" tIns="91425">
            <a:noAutofit/>
          </a:bodyPr>
          <a:lstStyle/>
          <a:p>
            <a:pPr indent="-304800" lvl="0" marL="457200" marR="0" rtl="0" algn="l">
              <a:lnSpc>
                <a:spcPct val="115000"/>
              </a:lnSpc>
              <a:spcBef>
                <a:spcPts val="1200"/>
              </a:spcBef>
              <a:spcAft>
                <a:spcPts val="0"/>
              </a:spcAft>
              <a:buClr>
                <a:schemeClr val="dk1"/>
              </a:buClr>
              <a:buSzPts val="1200"/>
              <a:buFont typeface="Arial"/>
              <a:buChar char="●"/>
            </a:pPr>
            <a:r>
              <a:rPr b="0" i="0" lang="en" sz="1200" u="none" cap="none" strike="noStrike">
                <a:solidFill>
                  <a:schemeClr val="dk1"/>
                </a:solidFill>
                <a:latin typeface="Arial"/>
                <a:ea typeface="Arial"/>
                <a:cs typeface="Arial"/>
                <a:sym typeface="Arial"/>
              </a:rPr>
              <a:t>Resolves small millivolt-level differential analog inputs into clean, full-scale rail-to-rail digital logic levels (</a:t>
            </a:r>
            <a:r>
              <a:rPr b="0" i="0" lang="en" sz="1100" u="none" cap="none" strike="noStrike">
                <a:solidFill>
                  <a:schemeClr val="dk1"/>
                </a:solidFill>
                <a:latin typeface="Arial"/>
                <a:ea typeface="Arial"/>
                <a:cs typeface="Arial"/>
                <a:sym typeface="Arial"/>
              </a:rPr>
              <a:t>0</a:t>
            </a:r>
            <a:r>
              <a:rPr b="0" i="0" lang="en" sz="1200" u="none" cap="none" strike="noStrike">
                <a:solidFill>
                  <a:schemeClr val="dk1"/>
                </a:solidFill>
                <a:latin typeface="Arial"/>
                <a:ea typeface="Arial"/>
                <a:cs typeface="Arial"/>
                <a:sym typeface="Arial"/>
              </a:rPr>
              <a:t> to </a:t>
            </a:r>
            <a:r>
              <a:rPr b="0" i="0" lang="en" sz="1100" u="none" cap="none" strike="noStrike">
                <a:solidFill>
                  <a:schemeClr val="dk1"/>
                </a:solidFill>
                <a:latin typeface="Arial"/>
                <a:ea typeface="Arial"/>
                <a:cs typeface="Arial"/>
                <a:sym typeface="Arial"/>
              </a:rPr>
              <a:t>VDD​</a:t>
            </a:r>
            <a:r>
              <a:rPr b="0" i="0" lang="en" sz="1200" u="none" cap="none" strike="noStrike">
                <a:solidFill>
                  <a:schemeClr val="dk1"/>
                </a:solidFill>
                <a:latin typeface="Arial"/>
                <a:ea typeface="Arial"/>
                <a:cs typeface="Arial"/>
                <a:sym typeface="Arial"/>
              </a:rPr>
              <a:t>).It compares two input voltages V</a:t>
            </a:r>
            <a:r>
              <a:rPr b="0" baseline="-25000" i="0" lang="en" sz="1200" u="none" cap="none" strike="noStrike">
                <a:solidFill>
                  <a:schemeClr val="dk1"/>
                </a:solidFill>
                <a:latin typeface="Arial"/>
                <a:ea typeface="Arial"/>
                <a:cs typeface="Arial"/>
                <a:sym typeface="Arial"/>
              </a:rPr>
              <a:t>INP</a:t>
            </a:r>
            <a:r>
              <a:rPr b="0" i="0" lang="en" sz="1200" u="none" cap="none" strike="noStrike">
                <a:solidFill>
                  <a:schemeClr val="dk1"/>
                </a:solidFill>
                <a:latin typeface="Arial"/>
                <a:ea typeface="Arial"/>
                <a:cs typeface="Arial"/>
                <a:sym typeface="Arial"/>
              </a:rPr>
              <a:t> and V</a:t>
            </a:r>
            <a:r>
              <a:rPr b="0" baseline="-25000" i="0" lang="en" sz="1200" u="none" cap="none" strike="noStrike">
                <a:solidFill>
                  <a:schemeClr val="dk1"/>
                </a:solidFill>
                <a:latin typeface="Arial"/>
                <a:ea typeface="Arial"/>
                <a:cs typeface="Arial"/>
                <a:sym typeface="Arial"/>
              </a:rPr>
              <a:t>INN</a:t>
            </a:r>
            <a:r>
              <a:rPr b="0" i="0" lang="en" sz="1200" u="none" cap="none" strike="noStrike">
                <a:solidFill>
                  <a:schemeClr val="dk1"/>
                </a:solidFill>
                <a:latin typeface="Arial"/>
                <a:ea typeface="Arial"/>
                <a:cs typeface="Arial"/>
                <a:sym typeface="Arial"/>
              </a:rPr>
              <a:t> and produces a full-swing digital output.</a:t>
            </a:r>
            <a:endParaRPr b="0" i="0" sz="1200" u="none" cap="none" strike="noStrike">
              <a:solidFill>
                <a:schemeClr val="dk1"/>
              </a:solidFill>
              <a:latin typeface="Arial"/>
              <a:ea typeface="Arial"/>
              <a:cs typeface="Arial"/>
              <a:sym typeface="Arial"/>
            </a:endParaRPr>
          </a:p>
          <a:p>
            <a:pPr indent="-304800" lvl="0" marL="457200" marR="0" rtl="0" algn="l">
              <a:lnSpc>
                <a:spcPct val="115000"/>
              </a:lnSpc>
              <a:spcBef>
                <a:spcPts val="0"/>
              </a:spcBef>
              <a:spcAft>
                <a:spcPts val="0"/>
              </a:spcAft>
              <a:buClr>
                <a:schemeClr val="dk1"/>
              </a:buClr>
              <a:buSzPts val="1200"/>
              <a:buFont typeface="Arial"/>
              <a:buChar char="●"/>
            </a:pPr>
            <a:r>
              <a:rPr b="0" i="0" lang="en" sz="1200" u="none" cap="none" strike="noStrike">
                <a:solidFill>
                  <a:schemeClr val="dk1"/>
                </a:solidFill>
                <a:latin typeface="Arial"/>
                <a:ea typeface="Arial"/>
                <a:cs typeface="Arial"/>
                <a:sym typeface="Arial"/>
              </a:rPr>
              <a:t>Strong Arm Latch is an clocked comparator</a:t>
            </a:r>
            <a:endParaRPr b="0" i="0" sz="1200" u="none" cap="none" strike="noStrike">
              <a:solidFill>
                <a:schemeClr val="dk1"/>
              </a:solidFill>
              <a:latin typeface="Arial"/>
              <a:ea typeface="Arial"/>
              <a:cs typeface="Arial"/>
              <a:sym typeface="Arial"/>
            </a:endParaRPr>
          </a:p>
          <a:p>
            <a:pPr indent="-304800" lvl="0" marL="457200" marR="0" rtl="0" algn="l">
              <a:lnSpc>
                <a:spcPct val="115000"/>
              </a:lnSpc>
              <a:spcBef>
                <a:spcPts val="0"/>
              </a:spcBef>
              <a:spcAft>
                <a:spcPts val="0"/>
              </a:spcAft>
              <a:buClr>
                <a:schemeClr val="dk1"/>
              </a:buClr>
              <a:buSzPts val="1200"/>
              <a:buFont typeface="Arial"/>
              <a:buChar char="●"/>
            </a:pPr>
            <a:r>
              <a:rPr b="0" i="0" lang="en" sz="1200" u="none" cap="none" strike="noStrike">
                <a:solidFill>
                  <a:schemeClr val="dk1"/>
                </a:solidFill>
                <a:latin typeface="Arial"/>
                <a:ea typeface="Arial"/>
                <a:cs typeface="Arial"/>
                <a:sym typeface="Arial"/>
              </a:rPr>
              <a:t>Employs back-to-back CMOS inverters providing strong positive feedback</a:t>
            </a:r>
            <a:endParaRPr b="0" i="0" sz="1200" u="none" cap="none" strike="noStrike">
              <a:solidFill>
                <a:schemeClr val="dk1"/>
              </a:solidFill>
              <a:latin typeface="Arial"/>
              <a:ea typeface="Arial"/>
              <a:cs typeface="Arial"/>
              <a:sym typeface="Arial"/>
            </a:endParaRPr>
          </a:p>
          <a:p>
            <a:pPr indent="-304800" lvl="0" marL="457200" marR="0" rtl="0" algn="l">
              <a:lnSpc>
                <a:spcPct val="115000"/>
              </a:lnSpc>
              <a:spcBef>
                <a:spcPts val="0"/>
              </a:spcBef>
              <a:spcAft>
                <a:spcPts val="0"/>
              </a:spcAft>
              <a:buClr>
                <a:schemeClr val="dk1"/>
              </a:buClr>
              <a:buSzPts val="1200"/>
              <a:buFont typeface="Arial"/>
              <a:buChar char="●"/>
            </a:pPr>
            <a:r>
              <a:rPr b="0" i="0" lang="en" sz="1200" u="none" cap="none" strike="noStrike">
                <a:solidFill>
                  <a:schemeClr val="dk1"/>
                </a:solidFill>
                <a:latin typeface="Arial"/>
                <a:ea typeface="Arial"/>
                <a:cs typeface="Arial"/>
                <a:sym typeface="Arial"/>
              </a:rPr>
              <a:t>Requires no external bias currents (</a:t>
            </a:r>
            <a:r>
              <a:rPr b="0" i="0" lang="en" sz="1100" u="none" cap="none" strike="noStrike">
                <a:solidFill>
                  <a:schemeClr val="dk1"/>
                </a:solidFill>
                <a:latin typeface="Arial"/>
                <a:ea typeface="Arial"/>
                <a:cs typeface="Arial"/>
                <a:sym typeface="Arial"/>
              </a:rPr>
              <a:t>Ibias​</a:t>
            </a:r>
            <a:r>
              <a:rPr b="0" i="0" lang="en" sz="1200" u="none" cap="none" strike="noStrike">
                <a:solidFill>
                  <a:schemeClr val="dk1"/>
                </a:solidFill>
                <a:latin typeface="Arial"/>
                <a:ea typeface="Arial"/>
                <a:cs typeface="Arial"/>
                <a:sym typeface="Arial"/>
              </a:rPr>
              <a:t>) or continuous-time high-gain op-amp loops.</a:t>
            </a:r>
            <a:endParaRPr b="0" i="0" sz="1200" u="none" cap="none" strike="noStrike">
              <a:solidFill>
                <a:schemeClr val="dk1"/>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pic>
        <p:nvPicPr>
          <p:cNvPr id="66" name="Google Shape;66;p3"/>
          <p:cNvPicPr preferRelativeResize="0"/>
          <p:nvPr/>
        </p:nvPicPr>
        <p:blipFill rotWithShape="1">
          <a:blip r:embed="rId3">
            <a:alphaModFix/>
          </a:blip>
          <a:srcRect b="0" l="0" r="0" t="0"/>
          <a:stretch/>
        </p:blipFill>
        <p:spPr>
          <a:xfrm>
            <a:off x="947475" y="869675"/>
            <a:ext cx="6424049" cy="3768757"/>
          </a:xfrm>
          <a:prstGeom prst="rect">
            <a:avLst/>
          </a:prstGeom>
          <a:noFill/>
          <a:ln>
            <a:noFill/>
          </a:ln>
        </p:spPr>
      </p:pic>
      <p:sp>
        <p:nvSpPr>
          <p:cNvPr id="67" name="Google Shape;67;p3"/>
          <p:cNvSpPr txBox="1"/>
          <p:nvPr>
            <p:ph type="title"/>
          </p:nvPr>
        </p:nvSpPr>
        <p:spPr>
          <a:xfrm>
            <a:off x="311700" y="23797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Circuit</a:t>
            </a:r>
            <a:endParaRPr/>
          </a:p>
        </p:txBody>
      </p:sp>
      <p:sp>
        <p:nvSpPr>
          <p:cNvPr id="68" name="Google Shape;68;p3"/>
          <p:cNvSpPr/>
          <p:nvPr/>
        </p:nvSpPr>
        <p:spPr>
          <a:xfrm>
            <a:off x="2152000" y="2824375"/>
            <a:ext cx="4353825" cy="1594225"/>
          </a:xfrm>
          <a:custGeom>
            <a:rect b="b" l="l" r="r" t="t"/>
            <a:pathLst>
              <a:path extrusionOk="0" h="63769" w="174153">
                <a:moveTo>
                  <a:pt x="83548" y="331"/>
                </a:moveTo>
                <a:cubicBezTo>
                  <a:pt x="66965" y="331"/>
                  <a:pt x="50353" y="1001"/>
                  <a:pt x="33852" y="2650"/>
                </a:cubicBezTo>
                <a:cubicBezTo>
                  <a:pt x="25414" y="3493"/>
                  <a:pt x="16258" y="2502"/>
                  <a:pt x="8673" y="6295"/>
                </a:cubicBezTo>
                <a:cubicBezTo>
                  <a:pt x="-1249" y="11256"/>
                  <a:pt x="-1916" y="29170"/>
                  <a:pt x="3041" y="39094"/>
                </a:cubicBezTo>
                <a:cubicBezTo>
                  <a:pt x="7503" y="48028"/>
                  <a:pt x="18586" y="52701"/>
                  <a:pt x="28220" y="55328"/>
                </a:cubicBezTo>
                <a:cubicBezTo>
                  <a:pt x="48413" y="60835"/>
                  <a:pt x="69575" y="63279"/>
                  <a:pt x="90505" y="63279"/>
                </a:cubicBezTo>
                <a:cubicBezTo>
                  <a:pt x="104751" y="63279"/>
                  <a:pt x="119084" y="64524"/>
                  <a:pt x="133243" y="62948"/>
                </a:cubicBezTo>
                <a:cubicBezTo>
                  <a:pt x="142569" y="61910"/>
                  <a:pt x="150376" y="55186"/>
                  <a:pt x="158423" y="50358"/>
                </a:cubicBezTo>
                <a:cubicBezTo>
                  <a:pt x="163322" y="47418"/>
                  <a:pt x="169093" y="44346"/>
                  <a:pt x="171343" y="39094"/>
                </a:cubicBezTo>
                <a:cubicBezTo>
                  <a:pt x="173846" y="33251"/>
                  <a:pt x="173994" y="26566"/>
                  <a:pt x="173994" y="20209"/>
                </a:cubicBezTo>
                <a:cubicBezTo>
                  <a:pt x="173994" y="15681"/>
                  <a:pt x="174634" y="9674"/>
                  <a:pt x="171012" y="6957"/>
                </a:cubicBezTo>
                <a:cubicBezTo>
                  <a:pt x="168892" y="5367"/>
                  <a:pt x="165711" y="6957"/>
                  <a:pt x="163061" y="6957"/>
                </a:cubicBezTo>
                <a:cubicBezTo>
                  <a:pt x="156434" y="6957"/>
                  <a:pt x="149810" y="7288"/>
                  <a:pt x="143183" y="7288"/>
                </a:cubicBezTo>
                <a:cubicBezTo>
                  <a:pt x="123047" y="7288"/>
                  <a:pt x="102319" y="6367"/>
                  <a:pt x="83217" y="0"/>
                </a:cubicBezTo>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3"/>
          <p:cNvSpPr/>
          <p:nvPr/>
        </p:nvSpPr>
        <p:spPr>
          <a:xfrm>
            <a:off x="2061125" y="1012413"/>
            <a:ext cx="1125325" cy="1408975"/>
          </a:xfrm>
          <a:custGeom>
            <a:rect b="b" l="l" r="r" t="t"/>
            <a:pathLst>
              <a:path extrusionOk="0" h="56359" w="45013">
                <a:moveTo>
                  <a:pt x="36825" y="4229"/>
                </a:moveTo>
                <a:cubicBezTo>
                  <a:pt x="31355" y="-3973"/>
                  <a:pt x="13138" y="996"/>
                  <a:pt x="7670" y="9199"/>
                </a:cubicBezTo>
                <a:cubicBezTo>
                  <a:pt x="-538" y="21514"/>
                  <a:pt x="-4519" y="46253"/>
                  <a:pt x="8332" y="53593"/>
                </a:cubicBezTo>
                <a:cubicBezTo>
                  <a:pt x="16768" y="58411"/>
                  <a:pt x="31087" y="56871"/>
                  <a:pt x="37156" y="49286"/>
                </a:cubicBezTo>
                <a:cubicBezTo>
                  <a:pt x="46471" y="37644"/>
                  <a:pt x="48361" y="15103"/>
                  <a:pt x="37818" y="4560"/>
                </a:cubicBezTo>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3"/>
          <p:cNvSpPr/>
          <p:nvPr/>
        </p:nvSpPr>
        <p:spPr>
          <a:xfrm>
            <a:off x="5368097" y="993278"/>
            <a:ext cx="968050" cy="1449025"/>
          </a:xfrm>
          <a:custGeom>
            <a:rect b="b" l="l" r="r" t="t"/>
            <a:pathLst>
              <a:path extrusionOk="0" h="57961" w="38722">
                <a:moveTo>
                  <a:pt x="19508" y="357"/>
                </a:moveTo>
                <a:cubicBezTo>
                  <a:pt x="14464" y="-651"/>
                  <a:pt x="8236" y="695"/>
                  <a:pt x="4599" y="4332"/>
                </a:cubicBezTo>
                <a:cubicBezTo>
                  <a:pt x="-1873" y="10804"/>
                  <a:pt x="624" y="22347"/>
                  <a:pt x="624" y="31499"/>
                </a:cubicBezTo>
                <a:cubicBezTo>
                  <a:pt x="624" y="40178"/>
                  <a:pt x="-808" y="53455"/>
                  <a:pt x="7250" y="56679"/>
                </a:cubicBezTo>
                <a:cubicBezTo>
                  <a:pt x="14791" y="59696"/>
                  <a:pt x="24764" y="56786"/>
                  <a:pt x="31104" y="51709"/>
                </a:cubicBezTo>
                <a:cubicBezTo>
                  <a:pt x="34422" y="49053"/>
                  <a:pt x="34731" y="44019"/>
                  <a:pt x="36405" y="40113"/>
                </a:cubicBezTo>
                <a:cubicBezTo>
                  <a:pt x="39895" y="31970"/>
                  <a:pt x="39331" y="20981"/>
                  <a:pt x="34417" y="13609"/>
                </a:cubicBezTo>
                <a:cubicBezTo>
                  <a:pt x="30715" y="8055"/>
                  <a:pt x="24397" y="4725"/>
                  <a:pt x="18846" y="1019"/>
                </a:cubicBezTo>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3"/>
          <p:cNvSpPr/>
          <p:nvPr/>
        </p:nvSpPr>
        <p:spPr>
          <a:xfrm>
            <a:off x="3114250" y="869675"/>
            <a:ext cx="2302875" cy="2152475"/>
          </a:xfrm>
          <a:custGeom>
            <a:rect b="b" l="l" r="r" t="t"/>
            <a:pathLst>
              <a:path extrusionOk="0" h="86099" w="92115">
                <a:moveTo>
                  <a:pt x="43401" y="1325"/>
                </a:moveTo>
                <a:cubicBezTo>
                  <a:pt x="30932" y="-1790"/>
                  <a:pt x="13769" y="3016"/>
                  <a:pt x="6958" y="13915"/>
                </a:cubicBezTo>
                <a:cubicBezTo>
                  <a:pt x="577" y="24127"/>
                  <a:pt x="0" y="37322"/>
                  <a:pt x="0" y="49364"/>
                </a:cubicBezTo>
                <a:cubicBezTo>
                  <a:pt x="0" y="60994"/>
                  <a:pt x="2551" y="77822"/>
                  <a:pt x="13584" y="81501"/>
                </a:cubicBezTo>
                <a:cubicBezTo>
                  <a:pt x="37629" y="89519"/>
                  <a:pt x="78695" y="88592"/>
                  <a:pt x="87796" y="64936"/>
                </a:cubicBezTo>
                <a:cubicBezTo>
                  <a:pt x="93678" y="49647"/>
                  <a:pt x="94314" y="29007"/>
                  <a:pt x="84483" y="15903"/>
                </a:cubicBezTo>
                <a:cubicBezTo>
                  <a:pt x="75112" y="3412"/>
                  <a:pt x="56035" y="0"/>
                  <a:pt x="40420" y="0"/>
                </a:cubicBezTo>
              </a:path>
            </a:pathLst>
          </a:cu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72" name="Google Shape;72;p3"/>
          <p:cNvCxnSpPr/>
          <p:nvPr/>
        </p:nvCxnSpPr>
        <p:spPr>
          <a:xfrm flipH="1" rot="10800000">
            <a:off x="6145700" y="3718775"/>
            <a:ext cx="1192800" cy="8400"/>
          </a:xfrm>
          <a:prstGeom prst="straightConnector1">
            <a:avLst/>
          </a:prstGeom>
          <a:noFill/>
          <a:ln cap="flat" cmpd="sng" w="9525">
            <a:solidFill>
              <a:schemeClr val="dk2"/>
            </a:solidFill>
            <a:prstDash val="solid"/>
            <a:round/>
            <a:headEnd len="sm" w="sm" type="none"/>
            <a:tailEnd len="med" w="med" type="triangle"/>
          </a:ln>
        </p:spPr>
      </p:cxnSp>
      <p:cxnSp>
        <p:nvCxnSpPr>
          <p:cNvPr id="73" name="Google Shape;73;p3"/>
          <p:cNvCxnSpPr/>
          <p:nvPr/>
        </p:nvCxnSpPr>
        <p:spPr>
          <a:xfrm flipH="1" rot="10800000">
            <a:off x="6153450" y="1896825"/>
            <a:ext cx="1342500" cy="133500"/>
          </a:xfrm>
          <a:prstGeom prst="straightConnector1">
            <a:avLst/>
          </a:prstGeom>
          <a:noFill/>
          <a:ln cap="flat" cmpd="sng" w="9525">
            <a:solidFill>
              <a:schemeClr val="dk2"/>
            </a:solidFill>
            <a:prstDash val="solid"/>
            <a:round/>
            <a:headEnd len="sm" w="sm" type="none"/>
            <a:tailEnd len="med" w="med" type="triangle"/>
          </a:ln>
        </p:spPr>
      </p:cxnSp>
      <p:cxnSp>
        <p:nvCxnSpPr>
          <p:cNvPr id="74" name="Google Shape;74;p3"/>
          <p:cNvCxnSpPr/>
          <p:nvPr/>
        </p:nvCxnSpPr>
        <p:spPr>
          <a:xfrm>
            <a:off x="2863275" y="1509725"/>
            <a:ext cx="4591200" cy="411600"/>
          </a:xfrm>
          <a:prstGeom prst="straightConnector1">
            <a:avLst/>
          </a:prstGeom>
          <a:noFill/>
          <a:ln cap="flat" cmpd="sng" w="9525">
            <a:solidFill>
              <a:schemeClr val="dk2"/>
            </a:solidFill>
            <a:prstDash val="solid"/>
            <a:round/>
            <a:headEnd len="sm" w="sm" type="none"/>
            <a:tailEnd len="med" w="med" type="triangle"/>
          </a:ln>
        </p:spPr>
      </p:cxnSp>
      <p:cxnSp>
        <p:nvCxnSpPr>
          <p:cNvPr id="75" name="Google Shape;75;p3"/>
          <p:cNvCxnSpPr/>
          <p:nvPr/>
        </p:nvCxnSpPr>
        <p:spPr>
          <a:xfrm flipH="1" rot="10800000">
            <a:off x="4768675" y="1142975"/>
            <a:ext cx="2685900" cy="137700"/>
          </a:xfrm>
          <a:prstGeom prst="straightConnector1">
            <a:avLst/>
          </a:prstGeom>
          <a:noFill/>
          <a:ln cap="flat" cmpd="sng" w="9525">
            <a:solidFill>
              <a:schemeClr val="dk2"/>
            </a:solidFill>
            <a:prstDash val="solid"/>
            <a:round/>
            <a:headEnd len="sm" w="sm" type="none"/>
            <a:tailEnd len="med" w="med" type="triangle"/>
          </a:ln>
        </p:spPr>
      </p:cxnSp>
      <p:sp>
        <p:nvSpPr>
          <p:cNvPr id="76" name="Google Shape;76;p3"/>
          <p:cNvSpPr txBox="1"/>
          <p:nvPr/>
        </p:nvSpPr>
        <p:spPr>
          <a:xfrm>
            <a:off x="7528900" y="1010475"/>
            <a:ext cx="1303500" cy="64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Arial"/>
                <a:ea typeface="Arial"/>
                <a:cs typeface="Arial"/>
                <a:sym typeface="Arial"/>
              </a:rPr>
              <a:t>Cross coupled Inverters</a:t>
            </a:r>
            <a:endParaRPr b="0" i="0" sz="1200" u="none" cap="none" strike="noStrike">
              <a:solidFill>
                <a:schemeClr val="dk1"/>
              </a:solidFill>
              <a:latin typeface="Arial"/>
              <a:ea typeface="Arial"/>
              <a:cs typeface="Arial"/>
              <a:sym typeface="Arial"/>
            </a:endParaRPr>
          </a:p>
        </p:txBody>
      </p:sp>
      <p:sp>
        <p:nvSpPr>
          <p:cNvPr id="77" name="Google Shape;77;p3"/>
          <p:cNvSpPr txBox="1"/>
          <p:nvPr/>
        </p:nvSpPr>
        <p:spPr>
          <a:xfrm>
            <a:off x="7578575" y="1706225"/>
            <a:ext cx="1192800" cy="405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Arial"/>
                <a:ea typeface="Arial"/>
                <a:cs typeface="Arial"/>
                <a:sym typeface="Arial"/>
              </a:rPr>
              <a:t>Clocks for reset</a:t>
            </a:r>
            <a:endParaRPr b="0" i="0" sz="1200" u="none" cap="none" strike="noStrike">
              <a:solidFill>
                <a:schemeClr val="dk1"/>
              </a:solidFill>
              <a:latin typeface="Arial"/>
              <a:ea typeface="Arial"/>
              <a:cs typeface="Arial"/>
              <a:sym typeface="Arial"/>
            </a:endParaRPr>
          </a:p>
        </p:txBody>
      </p:sp>
      <p:sp>
        <p:nvSpPr>
          <p:cNvPr id="78" name="Google Shape;78;p3"/>
          <p:cNvSpPr txBox="1"/>
          <p:nvPr/>
        </p:nvSpPr>
        <p:spPr>
          <a:xfrm>
            <a:off x="7371525" y="3470425"/>
            <a:ext cx="1366500" cy="405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Arial"/>
                <a:ea typeface="Arial"/>
                <a:cs typeface="Arial"/>
                <a:sym typeface="Arial"/>
              </a:rPr>
              <a:t>Clocked differential pair</a:t>
            </a:r>
            <a:endParaRPr b="0" i="0" sz="12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 name="Shape 82"/>
        <p:cNvGrpSpPr/>
        <p:nvPr/>
      </p:nvGrpSpPr>
      <p:grpSpPr>
        <a:xfrm>
          <a:off x="0" y="0"/>
          <a:ext cx="0" cy="0"/>
          <a:chOff x="0" y="0"/>
          <a:chExt cx="0" cy="0"/>
        </a:xfrm>
      </p:grpSpPr>
      <p:sp>
        <p:nvSpPr>
          <p:cNvPr id="83" name="Google Shape;83;p4"/>
          <p:cNvSpPr txBox="1"/>
          <p:nvPr>
            <p:ph type="title"/>
          </p:nvPr>
        </p:nvSpPr>
        <p:spPr>
          <a:xfrm>
            <a:off x="311700" y="171700"/>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Operation</a:t>
            </a:r>
            <a:endParaRPr/>
          </a:p>
        </p:txBody>
      </p:sp>
      <p:pic>
        <p:nvPicPr>
          <p:cNvPr id="84" name="Google Shape;84;p4"/>
          <p:cNvPicPr preferRelativeResize="0"/>
          <p:nvPr/>
        </p:nvPicPr>
        <p:blipFill rotWithShape="1">
          <a:blip r:embed="rId3">
            <a:alphaModFix/>
          </a:blip>
          <a:srcRect b="0" l="0" r="0" t="0"/>
          <a:stretch/>
        </p:blipFill>
        <p:spPr>
          <a:xfrm>
            <a:off x="1374400" y="2140275"/>
            <a:ext cx="3529601" cy="2353050"/>
          </a:xfrm>
          <a:prstGeom prst="rect">
            <a:avLst/>
          </a:prstGeom>
          <a:noFill/>
          <a:ln>
            <a:noFill/>
          </a:ln>
        </p:spPr>
      </p:pic>
      <p:sp>
        <p:nvSpPr>
          <p:cNvPr id="85" name="Google Shape;85;p4"/>
          <p:cNvSpPr txBox="1"/>
          <p:nvPr>
            <p:ph idx="1" type="body"/>
          </p:nvPr>
        </p:nvSpPr>
        <p:spPr>
          <a:xfrm>
            <a:off x="956525" y="904000"/>
            <a:ext cx="7231500" cy="1667700"/>
          </a:xfrm>
          <a:prstGeom prst="rect">
            <a:avLst/>
          </a:prstGeom>
          <a:noFill/>
          <a:ln>
            <a:noFill/>
          </a:ln>
        </p:spPr>
        <p:txBody>
          <a:bodyPr anchorCtr="0" anchor="t" bIns="91425" lIns="91425" spcFirstLastPara="1" rIns="91425" wrap="square" tIns="91425">
            <a:normAutofit/>
          </a:bodyPr>
          <a:lstStyle/>
          <a:p>
            <a:pPr indent="-304800" lvl="0" marL="457200" rtl="0" algn="l">
              <a:lnSpc>
                <a:spcPct val="115000"/>
              </a:lnSpc>
              <a:spcBef>
                <a:spcPts val="0"/>
              </a:spcBef>
              <a:spcAft>
                <a:spcPts val="0"/>
              </a:spcAft>
              <a:buClr>
                <a:schemeClr val="dk1"/>
              </a:buClr>
              <a:buSzPts val="1200"/>
              <a:buChar char="●"/>
            </a:pPr>
            <a:r>
              <a:rPr lang="en" sz="1200">
                <a:solidFill>
                  <a:schemeClr val="dk1"/>
                </a:solidFill>
              </a:rPr>
              <a:t>When the clock is zero the PMOS devices (MClk1 and MClk2) turns ON VX and VY are set to VDD and rest of the circuit will gets disabled. This is called as RESET phase</a:t>
            </a:r>
            <a:endParaRPr sz="1200" u="sng">
              <a:solidFill>
                <a:schemeClr val="dk1"/>
              </a:solidFill>
            </a:endParaRPr>
          </a:p>
          <a:p>
            <a:pPr indent="-304800" lvl="0" marL="457200" rtl="0" algn="l">
              <a:lnSpc>
                <a:spcPct val="115000"/>
              </a:lnSpc>
              <a:spcBef>
                <a:spcPts val="0"/>
              </a:spcBef>
              <a:spcAft>
                <a:spcPts val="0"/>
              </a:spcAft>
              <a:buClr>
                <a:schemeClr val="dk1"/>
              </a:buClr>
              <a:buSzPts val="1200"/>
              <a:buChar char="●"/>
            </a:pPr>
            <a:r>
              <a:rPr lang="en" sz="1200">
                <a:solidFill>
                  <a:schemeClr val="dk1"/>
                </a:solidFill>
              </a:rPr>
              <a:t>When the clock turns ON(VDD), the differential input pair gets enabled so Ip and In will start to flow and Vx,Vy will start discharging, Mp_inv2 and Mn_inv1 will turn on First (for Vip &gt; Vin) → left side nodes (Vy, Vd1) discharge rapidly than the right side nodes(Vx, Vd2) pulling towards ground.</a:t>
            </a:r>
            <a:endParaRPr sz="1200">
              <a:solidFill>
                <a:schemeClr val="dk1"/>
              </a:solidFill>
            </a:endParaRPr>
          </a:p>
        </p:txBody>
      </p:sp>
      <p:cxnSp>
        <p:nvCxnSpPr>
          <p:cNvPr id="86" name="Google Shape;86;p4"/>
          <p:cNvCxnSpPr/>
          <p:nvPr/>
        </p:nvCxnSpPr>
        <p:spPr>
          <a:xfrm flipH="1" rot="10800000">
            <a:off x="3696250" y="2884125"/>
            <a:ext cx="1520100" cy="354000"/>
          </a:xfrm>
          <a:prstGeom prst="straightConnector1">
            <a:avLst/>
          </a:prstGeom>
          <a:noFill/>
          <a:ln cap="flat" cmpd="sng" w="9525">
            <a:solidFill>
              <a:schemeClr val="dk2"/>
            </a:solidFill>
            <a:prstDash val="solid"/>
            <a:round/>
            <a:headEnd len="sm" w="sm" type="none"/>
            <a:tailEnd len="med" w="med" type="triangle"/>
          </a:ln>
        </p:spPr>
      </p:cxnSp>
      <p:sp>
        <p:nvSpPr>
          <p:cNvPr id="87" name="Google Shape;87;p4"/>
          <p:cNvSpPr txBox="1"/>
          <p:nvPr/>
        </p:nvSpPr>
        <p:spPr>
          <a:xfrm>
            <a:off x="5216338" y="2425975"/>
            <a:ext cx="2103300" cy="697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Arial"/>
                <a:ea typeface="Arial"/>
                <a:cs typeface="Arial"/>
                <a:sym typeface="Arial"/>
              </a:rPr>
              <a:t>Time instance where the back to back inverters tries to make a decision</a:t>
            </a:r>
            <a:endParaRPr b="0" i="0" sz="1200" u="none" cap="none" strike="noStrike">
              <a:solidFill>
                <a:schemeClr val="dk1"/>
              </a:solidFill>
              <a:latin typeface="Arial"/>
              <a:ea typeface="Arial"/>
              <a:cs typeface="Arial"/>
              <a:sym typeface="Arial"/>
            </a:endParaRPr>
          </a:p>
        </p:txBody>
      </p:sp>
      <p:sp>
        <p:nvSpPr>
          <p:cNvPr id="88" name="Google Shape;88;p4"/>
          <p:cNvSpPr txBox="1"/>
          <p:nvPr/>
        </p:nvSpPr>
        <p:spPr>
          <a:xfrm>
            <a:off x="4768675" y="3935700"/>
            <a:ext cx="312300" cy="281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Arial"/>
                <a:ea typeface="Arial"/>
                <a:cs typeface="Arial"/>
                <a:sym typeface="Arial"/>
              </a:rPr>
              <a:t>t</a:t>
            </a:r>
            <a:endParaRPr b="0" i="0" sz="1200" u="none" cap="none" strike="noStrike">
              <a:solidFill>
                <a:schemeClr val="dk1"/>
              </a:solidFill>
              <a:latin typeface="Arial"/>
              <a:ea typeface="Arial"/>
              <a:cs typeface="Arial"/>
              <a:sym typeface="Arial"/>
            </a:endParaRPr>
          </a:p>
        </p:txBody>
      </p:sp>
      <p:graphicFrame>
        <p:nvGraphicFramePr>
          <p:cNvPr id="89" name="Google Shape;89;p4"/>
          <p:cNvGraphicFramePr/>
          <p:nvPr/>
        </p:nvGraphicFramePr>
        <p:xfrm>
          <a:off x="5216350" y="3238125"/>
          <a:ext cx="3000000" cy="3000000"/>
        </p:xfrm>
        <a:graphic>
          <a:graphicData uri="http://schemas.openxmlformats.org/drawingml/2006/table">
            <a:tbl>
              <a:tblPr>
                <a:noFill/>
                <a:tableStyleId>{37713927-2DBB-47C0-8D51-E45B35349A4C}</a:tableStyleId>
              </a:tblPr>
              <a:tblGrid>
                <a:gridCol w="669075"/>
                <a:gridCol w="1038575"/>
              </a:tblGrid>
              <a:tr h="22125">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t>Node </a:t>
                      </a:r>
                      <a:endParaRPr sz="1400" u="none" cap="none" strike="noStrike"/>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t>(Inversion)</a:t>
                      </a:r>
                      <a:endParaRPr sz="1400" u="none" cap="none" strike="noStrike"/>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r h="2015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t>Vx</a:t>
                      </a:r>
                      <a:endParaRPr sz="1400" u="none" cap="none" strike="noStrike"/>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t>Von</a:t>
                      </a:r>
                      <a:endParaRPr sz="1400" u="none" cap="none" strike="noStrike"/>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r h="2015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t>Vy</a:t>
                      </a:r>
                      <a:endParaRPr sz="1400" u="none" cap="none" strike="noStrike"/>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t>Vop</a:t>
                      </a:r>
                      <a:endParaRPr sz="1400" u="none" cap="none" strike="noStrike"/>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5"/>
          <p:cNvSpPr txBox="1"/>
          <p:nvPr>
            <p:ph type="title"/>
          </p:nvPr>
        </p:nvSpPr>
        <p:spPr>
          <a:xfrm>
            <a:off x="311700" y="345650"/>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Designed Schematic</a:t>
            </a:r>
            <a:endParaRPr/>
          </a:p>
        </p:txBody>
      </p:sp>
      <p:pic>
        <p:nvPicPr>
          <p:cNvPr id="95" name="Google Shape;95;p5"/>
          <p:cNvPicPr preferRelativeResize="0"/>
          <p:nvPr/>
        </p:nvPicPr>
        <p:blipFill rotWithShape="1">
          <a:blip r:embed="rId3">
            <a:alphaModFix/>
          </a:blip>
          <a:srcRect b="0" l="0" r="0" t="0"/>
          <a:stretch/>
        </p:blipFill>
        <p:spPr>
          <a:xfrm>
            <a:off x="999550" y="1029125"/>
            <a:ext cx="7153001" cy="3583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Results</a:t>
            </a:r>
            <a:endParaRPr/>
          </a:p>
        </p:txBody>
      </p:sp>
      <p:pic>
        <p:nvPicPr>
          <p:cNvPr id="101" name="Google Shape;101;p6"/>
          <p:cNvPicPr preferRelativeResize="0"/>
          <p:nvPr/>
        </p:nvPicPr>
        <p:blipFill rotWithShape="1">
          <a:blip r:embed="rId3">
            <a:alphaModFix/>
          </a:blip>
          <a:srcRect b="0" l="0" r="0" t="0"/>
          <a:stretch/>
        </p:blipFill>
        <p:spPr>
          <a:xfrm>
            <a:off x="977350" y="1170125"/>
            <a:ext cx="7222426" cy="33683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h6e2fa9bba874bd75_0_0"/>
          <p:cNvSpPr txBox="1"/>
          <p:nvPr>
            <p:ph type="title"/>
          </p:nvPr>
        </p:nvSpPr>
        <p:spPr>
          <a:xfrm>
            <a:off x="311700" y="2200800"/>
            <a:ext cx="8520600" cy="741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en" sz="3800"/>
              <a:t>Thank You</a:t>
            </a:r>
            <a:endParaRPr b="1" sz="3800"/>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
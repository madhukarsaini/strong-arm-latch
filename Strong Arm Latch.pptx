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AC5167-06FA-4C05-B3F4-4AF101CC3E5A}">
  <a:tblStyle styleId="{DFAC5167-06FA-4C05-B3F4-4AF101CC3E5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f8395ebf4de50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f8395ebf4de50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4ed46eec6a5b2a1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4ed46eec6a5b2a1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4ed46eec6a5b2a1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4ed46eec6a5b2a1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4ed46eec6a5b2a1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4ed46eec6a5b2a1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4ed46eec6a5b2a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4ed46eec6a5b2a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Design of Strong Arm Latch</a:t>
            </a:r>
            <a:endParaRPr/>
          </a:p>
        </p:txBody>
      </p:sp>
      <p:sp>
        <p:nvSpPr>
          <p:cNvPr id="55" name="Google Shape;55;p13"/>
          <p:cNvSpPr txBox="1"/>
          <p:nvPr>
            <p:ph idx="1" type="subTitle"/>
          </p:nvPr>
        </p:nvSpPr>
        <p:spPr>
          <a:xfrm>
            <a:off x="5491375" y="3529875"/>
            <a:ext cx="27414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chemeClr val="dk1"/>
                </a:solidFill>
              </a:rPr>
              <a:t>Presented by</a:t>
            </a:r>
            <a:endParaRPr>
              <a:solidFill>
                <a:schemeClr val="dk1"/>
              </a:solidFill>
            </a:endParaRPr>
          </a:p>
          <a:p>
            <a:pPr indent="0" lvl="0" marL="0" rtl="0" algn="ctr">
              <a:spcBef>
                <a:spcPts val="0"/>
              </a:spcBef>
              <a:spcAft>
                <a:spcPts val="0"/>
              </a:spcAft>
              <a:buNone/>
            </a:pPr>
            <a:r>
              <a:rPr lang="en">
                <a:solidFill>
                  <a:schemeClr val="dk1"/>
                </a:solidFill>
              </a:rPr>
              <a:t>Madhukar Saini</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346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nvSpPr>
        <p:spPr>
          <a:xfrm>
            <a:off x="1051600" y="1155725"/>
            <a:ext cx="6882300" cy="1541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Char char="●"/>
            </a:pPr>
            <a:r>
              <a:rPr lang="en" sz="1200">
                <a:solidFill>
                  <a:schemeClr val="dk1"/>
                </a:solidFill>
              </a:rPr>
              <a:t>Resolves small, millivolt-level differential analog inputs into clean, full-scale rail-to-rail digital logic levels (</a:t>
            </a:r>
            <a:r>
              <a:rPr lang="en" sz="1100">
                <a:solidFill>
                  <a:schemeClr val="dk1"/>
                </a:solidFill>
              </a:rPr>
              <a:t>0</a:t>
            </a:r>
            <a:r>
              <a:rPr lang="en" sz="1200">
                <a:solidFill>
                  <a:schemeClr val="dk1"/>
                </a:solidFill>
              </a:rPr>
              <a:t> to </a:t>
            </a:r>
            <a:r>
              <a:rPr lang="en" sz="1100">
                <a:solidFill>
                  <a:schemeClr val="dk1"/>
                </a:solidFill>
              </a:rPr>
              <a:t>VDD​</a:t>
            </a:r>
            <a:r>
              <a:rPr lang="en" sz="1200">
                <a:solidFill>
                  <a:schemeClr val="dk1"/>
                </a:solidFill>
              </a:rPr>
              <a:t>).</a:t>
            </a:r>
            <a:r>
              <a:rPr lang="en" sz="1200">
                <a:solidFill>
                  <a:schemeClr val="dk1"/>
                </a:solidFill>
              </a:rPr>
              <a:t>It compares two input voltages V</a:t>
            </a:r>
            <a:r>
              <a:rPr baseline="-25000" lang="en" sz="1200">
                <a:solidFill>
                  <a:schemeClr val="dk1"/>
                </a:solidFill>
              </a:rPr>
              <a:t>INP</a:t>
            </a:r>
            <a:r>
              <a:rPr lang="en" sz="1200">
                <a:solidFill>
                  <a:schemeClr val="dk1"/>
                </a:solidFill>
              </a:rPr>
              <a:t> and V</a:t>
            </a:r>
            <a:r>
              <a:rPr baseline="-25000" lang="en" sz="1200">
                <a:solidFill>
                  <a:schemeClr val="dk1"/>
                </a:solidFill>
              </a:rPr>
              <a:t>INN</a:t>
            </a:r>
            <a:r>
              <a:rPr lang="en" sz="1200">
                <a:solidFill>
                  <a:schemeClr val="dk1"/>
                </a:solidFill>
              </a:rPr>
              <a:t> and produces a full-swing digital output.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Strong Arm Latch is an clocked comparator</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Employs back-to-back CMOS inverters providing strong positive feedback</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Requires no external bias currents (</a:t>
            </a:r>
            <a:r>
              <a:rPr lang="en" sz="1100">
                <a:solidFill>
                  <a:schemeClr val="dk1"/>
                </a:solidFill>
              </a:rPr>
              <a:t>Ibias​</a:t>
            </a:r>
            <a:r>
              <a:rPr lang="en" sz="1200">
                <a:solidFill>
                  <a:schemeClr val="dk1"/>
                </a:solidFill>
              </a:rPr>
              <a:t>) or continuous-time high-gain op-amp loops.</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947475" y="869675"/>
            <a:ext cx="6424049" cy="3768757"/>
          </a:xfrm>
          <a:prstGeom prst="rect">
            <a:avLst/>
          </a:prstGeom>
          <a:noFill/>
          <a:ln>
            <a:noFill/>
          </a:ln>
        </p:spPr>
      </p:pic>
      <p:sp>
        <p:nvSpPr>
          <p:cNvPr id="67" name="Google Shape;67;p15"/>
          <p:cNvSpPr txBox="1"/>
          <p:nvPr>
            <p:ph type="title"/>
          </p:nvPr>
        </p:nvSpPr>
        <p:spPr>
          <a:xfrm>
            <a:off x="311700" y="237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Circuit</a:t>
            </a:r>
            <a:endParaRPr/>
          </a:p>
        </p:txBody>
      </p:sp>
      <p:sp>
        <p:nvSpPr>
          <p:cNvPr id="68" name="Google Shape;68;p15"/>
          <p:cNvSpPr/>
          <p:nvPr/>
        </p:nvSpPr>
        <p:spPr>
          <a:xfrm>
            <a:off x="2152000" y="2824375"/>
            <a:ext cx="4353825" cy="1594225"/>
          </a:xfrm>
          <a:custGeom>
            <a:rect b="b" l="l" r="r" t="t"/>
            <a:pathLst>
              <a:path extrusionOk="0" h="63769" w="174153">
                <a:moveTo>
                  <a:pt x="83548" y="331"/>
                </a:moveTo>
                <a:cubicBezTo>
                  <a:pt x="66965" y="331"/>
                  <a:pt x="50353" y="1001"/>
                  <a:pt x="33852" y="2650"/>
                </a:cubicBezTo>
                <a:cubicBezTo>
                  <a:pt x="25414" y="3493"/>
                  <a:pt x="16258" y="2502"/>
                  <a:pt x="8673" y="6295"/>
                </a:cubicBezTo>
                <a:cubicBezTo>
                  <a:pt x="-1249" y="11256"/>
                  <a:pt x="-1916" y="29170"/>
                  <a:pt x="3041" y="39094"/>
                </a:cubicBezTo>
                <a:cubicBezTo>
                  <a:pt x="7503" y="48028"/>
                  <a:pt x="18586" y="52701"/>
                  <a:pt x="28220" y="55328"/>
                </a:cubicBezTo>
                <a:cubicBezTo>
                  <a:pt x="48413" y="60835"/>
                  <a:pt x="69575" y="63279"/>
                  <a:pt x="90505" y="63279"/>
                </a:cubicBezTo>
                <a:cubicBezTo>
                  <a:pt x="104751" y="63279"/>
                  <a:pt x="119084" y="64524"/>
                  <a:pt x="133243" y="62948"/>
                </a:cubicBezTo>
                <a:cubicBezTo>
                  <a:pt x="142569" y="61910"/>
                  <a:pt x="150376" y="55186"/>
                  <a:pt x="158423" y="50358"/>
                </a:cubicBezTo>
                <a:cubicBezTo>
                  <a:pt x="163322" y="47418"/>
                  <a:pt x="169093" y="44346"/>
                  <a:pt x="171343" y="39094"/>
                </a:cubicBezTo>
                <a:cubicBezTo>
                  <a:pt x="173846" y="33251"/>
                  <a:pt x="173994" y="26566"/>
                  <a:pt x="173994" y="20209"/>
                </a:cubicBezTo>
                <a:cubicBezTo>
                  <a:pt x="173994" y="15681"/>
                  <a:pt x="174634" y="9674"/>
                  <a:pt x="171012" y="6957"/>
                </a:cubicBezTo>
                <a:cubicBezTo>
                  <a:pt x="168892" y="5367"/>
                  <a:pt x="165711" y="6957"/>
                  <a:pt x="163061" y="6957"/>
                </a:cubicBezTo>
                <a:cubicBezTo>
                  <a:pt x="156434" y="6957"/>
                  <a:pt x="149810" y="7288"/>
                  <a:pt x="143183" y="7288"/>
                </a:cubicBezTo>
                <a:cubicBezTo>
                  <a:pt x="123047" y="7288"/>
                  <a:pt x="102319" y="6367"/>
                  <a:pt x="83217" y="0"/>
                </a:cubicBezTo>
              </a:path>
            </a:pathLst>
          </a:custGeom>
          <a:noFill/>
          <a:ln cap="flat" cmpd="sng" w="9525">
            <a:solidFill>
              <a:schemeClr val="dk2"/>
            </a:solidFill>
            <a:prstDash val="solid"/>
            <a:round/>
            <a:headEnd len="med" w="med" type="none"/>
            <a:tailEnd len="med" w="med" type="none"/>
          </a:ln>
        </p:spPr>
      </p:sp>
      <p:sp>
        <p:nvSpPr>
          <p:cNvPr id="69" name="Google Shape;69;p15"/>
          <p:cNvSpPr/>
          <p:nvPr/>
        </p:nvSpPr>
        <p:spPr>
          <a:xfrm>
            <a:off x="2061125" y="1012413"/>
            <a:ext cx="1125325" cy="1408975"/>
          </a:xfrm>
          <a:custGeom>
            <a:rect b="b" l="l" r="r" t="t"/>
            <a:pathLst>
              <a:path extrusionOk="0" h="56359" w="45013">
                <a:moveTo>
                  <a:pt x="36825" y="4229"/>
                </a:moveTo>
                <a:cubicBezTo>
                  <a:pt x="31355" y="-3973"/>
                  <a:pt x="13138" y="996"/>
                  <a:pt x="7670" y="9199"/>
                </a:cubicBezTo>
                <a:cubicBezTo>
                  <a:pt x="-538" y="21514"/>
                  <a:pt x="-4519" y="46253"/>
                  <a:pt x="8332" y="53593"/>
                </a:cubicBezTo>
                <a:cubicBezTo>
                  <a:pt x="16768" y="58411"/>
                  <a:pt x="31087" y="56871"/>
                  <a:pt x="37156" y="49286"/>
                </a:cubicBezTo>
                <a:cubicBezTo>
                  <a:pt x="46471" y="37644"/>
                  <a:pt x="48361" y="15103"/>
                  <a:pt x="37818" y="4560"/>
                </a:cubicBezTo>
              </a:path>
            </a:pathLst>
          </a:custGeom>
          <a:noFill/>
          <a:ln cap="flat" cmpd="sng" w="9525">
            <a:solidFill>
              <a:schemeClr val="dk2"/>
            </a:solidFill>
            <a:prstDash val="solid"/>
            <a:round/>
            <a:headEnd len="med" w="med" type="none"/>
            <a:tailEnd len="med" w="med" type="none"/>
          </a:ln>
        </p:spPr>
      </p:sp>
      <p:sp>
        <p:nvSpPr>
          <p:cNvPr id="70" name="Google Shape;70;p15"/>
          <p:cNvSpPr/>
          <p:nvPr/>
        </p:nvSpPr>
        <p:spPr>
          <a:xfrm>
            <a:off x="5368097" y="993278"/>
            <a:ext cx="968050" cy="1449025"/>
          </a:xfrm>
          <a:custGeom>
            <a:rect b="b" l="l" r="r" t="t"/>
            <a:pathLst>
              <a:path extrusionOk="0" h="57961" w="38722">
                <a:moveTo>
                  <a:pt x="19508" y="357"/>
                </a:moveTo>
                <a:cubicBezTo>
                  <a:pt x="14464" y="-651"/>
                  <a:pt x="8236" y="695"/>
                  <a:pt x="4599" y="4332"/>
                </a:cubicBezTo>
                <a:cubicBezTo>
                  <a:pt x="-1873" y="10804"/>
                  <a:pt x="624" y="22347"/>
                  <a:pt x="624" y="31499"/>
                </a:cubicBezTo>
                <a:cubicBezTo>
                  <a:pt x="624" y="40178"/>
                  <a:pt x="-808" y="53455"/>
                  <a:pt x="7250" y="56679"/>
                </a:cubicBezTo>
                <a:cubicBezTo>
                  <a:pt x="14791" y="59696"/>
                  <a:pt x="24764" y="56786"/>
                  <a:pt x="31104" y="51709"/>
                </a:cubicBezTo>
                <a:cubicBezTo>
                  <a:pt x="34422" y="49053"/>
                  <a:pt x="34731" y="44019"/>
                  <a:pt x="36405" y="40113"/>
                </a:cubicBezTo>
                <a:cubicBezTo>
                  <a:pt x="39895" y="31970"/>
                  <a:pt x="39331" y="20981"/>
                  <a:pt x="34417" y="13609"/>
                </a:cubicBezTo>
                <a:cubicBezTo>
                  <a:pt x="30715" y="8055"/>
                  <a:pt x="24397" y="4725"/>
                  <a:pt x="18846" y="1019"/>
                </a:cubicBezTo>
              </a:path>
            </a:pathLst>
          </a:custGeom>
          <a:noFill/>
          <a:ln cap="flat" cmpd="sng" w="9525">
            <a:solidFill>
              <a:schemeClr val="dk2"/>
            </a:solidFill>
            <a:prstDash val="solid"/>
            <a:round/>
            <a:headEnd len="med" w="med" type="none"/>
            <a:tailEnd len="med" w="med" type="none"/>
          </a:ln>
        </p:spPr>
      </p:sp>
      <p:sp>
        <p:nvSpPr>
          <p:cNvPr id="71" name="Google Shape;71;p15"/>
          <p:cNvSpPr/>
          <p:nvPr/>
        </p:nvSpPr>
        <p:spPr>
          <a:xfrm>
            <a:off x="3114250" y="869675"/>
            <a:ext cx="2302875" cy="2152475"/>
          </a:xfrm>
          <a:custGeom>
            <a:rect b="b" l="l" r="r" t="t"/>
            <a:pathLst>
              <a:path extrusionOk="0" h="86099" w="92115">
                <a:moveTo>
                  <a:pt x="43401" y="1325"/>
                </a:moveTo>
                <a:cubicBezTo>
                  <a:pt x="30932" y="-1790"/>
                  <a:pt x="13769" y="3016"/>
                  <a:pt x="6958" y="13915"/>
                </a:cubicBezTo>
                <a:cubicBezTo>
                  <a:pt x="577" y="24127"/>
                  <a:pt x="0" y="37322"/>
                  <a:pt x="0" y="49364"/>
                </a:cubicBezTo>
                <a:cubicBezTo>
                  <a:pt x="0" y="60994"/>
                  <a:pt x="2551" y="77822"/>
                  <a:pt x="13584" y="81501"/>
                </a:cubicBezTo>
                <a:cubicBezTo>
                  <a:pt x="37629" y="89519"/>
                  <a:pt x="78695" y="88592"/>
                  <a:pt x="87796" y="64936"/>
                </a:cubicBezTo>
                <a:cubicBezTo>
                  <a:pt x="93678" y="49647"/>
                  <a:pt x="94314" y="29007"/>
                  <a:pt x="84483" y="15903"/>
                </a:cubicBezTo>
                <a:cubicBezTo>
                  <a:pt x="75112" y="3412"/>
                  <a:pt x="56035" y="0"/>
                  <a:pt x="40420" y="0"/>
                </a:cubicBezTo>
              </a:path>
            </a:pathLst>
          </a:custGeom>
          <a:noFill/>
          <a:ln cap="flat" cmpd="sng" w="9525">
            <a:solidFill>
              <a:schemeClr val="dk2"/>
            </a:solidFill>
            <a:prstDash val="solid"/>
            <a:round/>
            <a:headEnd len="med" w="med" type="none"/>
            <a:tailEnd len="med" w="med" type="none"/>
          </a:ln>
        </p:spPr>
      </p:sp>
      <p:cxnSp>
        <p:nvCxnSpPr>
          <p:cNvPr id="72" name="Google Shape;72;p15"/>
          <p:cNvCxnSpPr/>
          <p:nvPr/>
        </p:nvCxnSpPr>
        <p:spPr>
          <a:xfrm flipH="1" rot="10800000">
            <a:off x="6145700" y="3718775"/>
            <a:ext cx="1192800" cy="8400"/>
          </a:xfrm>
          <a:prstGeom prst="straightConnector1">
            <a:avLst/>
          </a:prstGeom>
          <a:noFill/>
          <a:ln cap="flat" cmpd="sng" w="9525">
            <a:solidFill>
              <a:schemeClr val="dk2"/>
            </a:solidFill>
            <a:prstDash val="solid"/>
            <a:round/>
            <a:headEnd len="med" w="med" type="none"/>
            <a:tailEnd len="med" w="med" type="triangle"/>
          </a:ln>
        </p:spPr>
      </p:cxnSp>
      <p:cxnSp>
        <p:nvCxnSpPr>
          <p:cNvPr id="73" name="Google Shape;73;p15"/>
          <p:cNvCxnSpPr/>
          <p:nvPr/>
        </p:nvCxnSpPr>
        <p:spPr>
          <a:xfrm flipH="1" rot="10800000">
            <a:off x="6153450" y="1896825"/>
            <a:ext cx="1342500" cy="13350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5"/>
          <p:cNvCxnSpPr>
            <a:stCxn id="75" idx="0"/>
          </p:cNvCxnSpPr>
          <p:nvPr/>
        </p:nvCxnSpPr>
        <p:spPr>
          <a:xfrm>
            <a:off x="3093650" y="1813925"/>
            <a:ext cx="4360800" cy="107400"/>
          </a:xfrm>
          <a:prstGeom prst="straightConnector1">
            <a:avLst/>
          </a:prstGeom>
          <a:noFill/>
          <a:ln cap="flat" cmpd="sng" w="9525">
            <a:solidFill>
              <a:schemeClr val="dk2"/>
            </a:solidFill>
            <a:prstDash val="solid"/>
            <a:round/>
            <a:headEnd len="med" w="med" type="none"/>
            <a:tailEnd len="med" w="med" type="triangle"/>
          </a:ln>
        </p:spPr>
      </p:cxnSp>
      <p:cxnSp>
        <p:nvCxnSpPr>
          <p:cNvPr id="76" name="Google Shape;76;p15"/>
          <p:cNvCxnSpPr/>
          <p:nvPr/>
        </p:nvCxnSpPr>
        <p:spPr>
          <a:xfrm flipH="1" rot="10800000">
            <a:off x="4768675" y="1142975"/>
            <a:ext cx="2685900" cy="137700"/>
          </a:xfrm>
          <a:prstGeom prst="straightConnector1">
            <a:avLst/>
          </a:prstGeom>
          <a:noFill/>
          <a:ln cap="flat" cmpd="sng" w="9525">
            <a:solidFill>
              <a:schemeClr val="dk2"/>
            </a:solidFill>
            <a:prstDash val="solid"/>
            <a:round/>
            <a:headEnd len="med" w="med" type="none"/>
            <a:tailEnd len="med" w="med" type="triangle"/>
          </a:ln>
        </p:spPr>
      </p:cxnSp>
      <p:sp>
        <p:nvSpPr>
          <p:cNvPr id="77" name="Google Shape;77;p15"/>
          <p:cNvSpPr txBox="1"/>
          <p:nvPr/>
        </p:nvSpPr>
        <p:spPr>
          <a:xfrm>
            <a:off x="7528900" y="1010475"/>
            <a:ext cx="13035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Cross coupled Inverters</a:t>
            </a:r>
            <a:endParaRPr sz="1200">
              <a:solidFill>
                <a:schemeClr val="dk1"/>
              </a:solidFill>
            </a:endParaRPr>
          </a:p>
        </p:txBody>
      </p:sp>
      <p:sp>
        <p:nvSpPr>
          <p:cNvPr id="78" name="Google Shape;78;p15"/>
          <p:cNvSpPr txBox="1"/>
          <p:nvPr/>
        </p:nvSpPr>
        <p:spPr>
          <a:xfrm>
            <a:off x="7578575" y="1706225"/>
            <a:ext cx="11928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Clocks for reset</a:t>
            </a:r>
            <a:endParaRPr sz="1200">
              <a:solidFill>
                <a:schemeClr val="dk1"/>
              </a:solidFill>
            </a:endParaRPr>
          </a:p>
        </p:txBody>
      </p:sp>
      <p:sp>
        <p:nvSpPr>
          <p:cNvPr id="79" name="Google Shape;79;p15"/>
          <p:cNvSpPr txBox="1"/>
          <p:nvPr/>
        </p:nvSpPr>
        <p:spPr>
          <a:xfrm>
            <a:off x="7371525" y="3470425"/>
            <a:ext cx="13665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Clocked differential pair</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171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a:t>
            </a:r>
            <a:endParaRPr/>
          </a:p>
        </p:txBody>
      </p:sp>
      <p:pic>
        <p:nvPicPr>
          <p:cNvPr id="85" name="Google Shape;85;p16"/>
          <p:cNvPicPr preferRelativeResize="0"/>
          <p:nvPr/>
        </p:nvPicPr>
        <p:blipFill>
          <a:blip r:embed="rId3">
            <a:alphaModFix/>
          </a:blip>
          <a:stretch>
            <a:fillRect/>
          </a:stretch>
        </p:blipFill>
        <p:spPr>
          <a:xfrm>
            <a:off x="1374400" y="2140275"/>
            <a:ext cx="3529601" cy="2353050"/>
          </a:xfrm>
          <a:prstGeom prst="rect">
            <a:avLst/>
          </a:prstGeom>
          <a:noFill/>
          <a:ln>
            <a:noFill/>
          </a:ln>
        </p:spPr>
      </p:pic>
      <p:sp>
        <p:nvSpPr>
          <p:cNvPr id="86" name="Google Shape;86;p16"/>
          <p:cNvSpPr txBox="1"/>
          <p:nvPr>
            <p:ph idx="1" type="body"/>
          </p:nvPr>
        </p:nvSpPr>
        <p:spPr>
          <a:xfrm>
            <a:off x="956525" y="904000"/>
            <a:ext cx="7231500" cy="16677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When the clock is zero the PMOS devices (MClk1 and MClk2) turns ON VX and VY are set to VDD and rest of the circuit will gets disabled. This is called as RESET phase</a:t>
            </a:r>
            <a:endParaRPr sz="1200" u="sng">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When the clock turns ON, th</a:t>
            </a:r>
            <a:r>
              <a:rPr lang="en" sz="1200">
                <a:solidFill>
                  <a:schemeClr val="dk1"/>
                </a:solidFill>
              </a:rPr>
              <a:t>e differential input pair gets enabled so Ip and In will start to flow and Vx,Vy will </a:t>
            </a:r>
            <a:r>
              <a:rPr lang="en" sz="1200">
                <a:solidFill>
                  <a:schemeClr val="dk1"/>
                </a:solidFill>
              </a:rPr>
              <a:t>start</a:t>
            </a:r>
            <a:r>
              <a:rPr lang="en" sz="1200">
                <a:solidFill>
                  <a:schemeClr val="dk1"/>
                </a:solidFill>
              </a:rPr>
              <a:t> discharging, Mp_inv2 and Mn_inv1 will turn on First (for Vip &gt; Vin) → left side nodes (Vy, Vd1) discharge rapidly than the right side nodes(Vx, Vd2) pulling towards ground.</a:t>
            </a:r>
            <a:endParaRPr sz="1200">
              <a:solidFill>
                <a:schemeClr val="dk1"/>
              </a:solidFill>
            </a:endParaRPr>
          </a:p>
        </p:txBody>
      </p:sp>
      <p:cxnSp>
        <p:nvCxnSpPr>
          <p:cNvPr id="87" name="Google Shape;87;p16"/>
          <p:cNvCxnSpPr/>
          <p:nvPr/>
        </p:nvCxnSpPr>
        <p:spPr>
          <a:xfrm flipH="1" rot="10800000">
            <a:off x="3696250" y="2884125"/>
            <a:ext cx="1520100" cy="354000"/>
          </a:xfrm>
          <a:prstGeom prst="straightConnector1">
            <a:avLst/>
          </a:prstGeom>
          <a:noFill/>
          <a:ln cap="flat" cmpd="sng" w="9525">
            <a:solidFill>
              <a:schemeClr val="dk2"/>
            </a:solidFill>
            <a:prstDash val="solid"/>
            <a:round/>
            <a:headEnd len="med" w="med" type="none"/>
            <a:tailEnd len="med" w="med" type="triangle"/>
          </a:ln>
        </p:spPr>
      </p:cxnSp>
      <p:sp>
        <p:nvSpPr>
          <p:cNvPr id="88" name="Google Shape;88;p16"/>
          <p:cNvSpPr txBox="1"/>
          <p:nvPr/>
        </p:nvSpPr>
        <p:spPr>
          <a:xfrm>
            <a:off x="5216338" y="2425975"/>
            <a:ext cx="2103300" cy="6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Time instance where the back to back inverters tries to make a decision</a:t>
            </a:r>
            <a:endParaRPr sz="1200">
              <a:solidFill>
                <a:schemeClr val="dk1"/>
              </a:solidFill>
            </a:endParaRPr>
          </a:p>
        </p:txBody>
      </p:sp>
      <p:sp>
        <p:nvSpPr>
          <p:cNvPr id="89" name="Google Shape;89;p16"/>
          <p:cNvSpPr txBox="1"/>
          <p:nvPr/>
        </p:nvSpPr>
        <p:spPr>
          <a:xfrm>
            <a:off x="4768675" y="3935700"/>
            <a:ext cx="3123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a:t>
            </a:r>
            <a:endParaRPr sz="1200">
              <a:solidFill>
                <a:schemeClr val="dk1"/>
              </a:solidFill>
            </a:endParaRPr>
          </a:p>
        </p:txBody>
      </p:sp>
      <p:graphicFrame>
        <p:nvGraphicFramePr>
          <p:cNvPr id="90" name="Google Shape;90;p16"/>
          <p:cNvGraphicFramePr/>
          <p:nvPr/>
        </p:nvGraphicFramePr>
        <p:xfrm>
          <a:off x="5216350" y="3238125"/>
          <a:ext cx="3000000" cy="3000000"/>
        </p:xfrm>
        <a:graphic>
          <a:graphicData uri="http://schemas.openxmlformats.org/drawingml/2006/table">
            <a:tbl>
              <a:tblPr>
                <a:noFill/>
                <a:tableStyleId>{DFAC5167-06FA-4C05-B3F4-4AF101CC3E5A}</a:tableStyleId>
              </a:tblPr>
              <a:tblGrid>
                <a:gridCol w="669075"/>
                <a:gridCol w="1038575"/>
              </a:tblGrid>
              <a:tr h="22125">
                <a:tc>
                  <a:txBody>
                    <a:bodyPr/>
                    <a:lstStyle/>
                    <a:p>
                      <a:pPr indent="0" lvl="0" marL="0" rtl="0" algn="l">
                        <a:spcBef>
                          <a:spcPts val="0"/>
                        </a:spcBef>
                        <a:spcAft>
                          <a:spcPts val="0"/>
                        </a:spcAft>
                        <a:buNone/>
                      </a:pPr>
                      <a:r>
                        <a:rPr lang="en"/>
                        <a:t>Node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(Inversion)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150">
                <a:tc>
                  <a:txBody>
                    <a:bodyPr/>
                    <a:lstStyle/>
                    <a:p>
                      <a:pPr indent="0" lvl="0" marL="0" rtl="0" algn="l">
                        <a:spcBef>
                          <a:spcPts val="0"/>
                        </a:spcBef>
                        <a:spcAft>
                          <a:spcPts val="0"/>
                        </a:spcAft>
                        <a:buNone/>
                      </a:pPr>
                      <a:r>
                        <a:rPr lang="en"/>
                        <a:t>Vx</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Von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150">
                <a:tc>
                  <a:txBody>
                    <a:bodyPr/>
                    <a:lstStyle/>
                    <a:p>
                      <a:pPr indent="0" lvl="0" marL="0" rtl="0" algn="l">
                        <a:spcBef>
                          <a:spcPts val="0"/>
                        </a:spcBef>
                        <a:spcAft>
                          <a:spcPts val="0"/>
                        </a:spcAft>
                        <a:buNone/>
                      </a:pPr>
                      <a:r>
                        <a:rPr lang="en"/>
                        <a:t>Vy</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Vop</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11700" y="345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Designed Schematic</a:t>
            </a:r>
            <a:endParaRPr/>
          </a:p>
        </p:txBody>
      </p:sp>
      <p:pic>
        <p:nvPicPr>
          <p:cNvPr id="96" name="Google Shape;96;p17"/>
          <p:cNvPicPr preferRelativeResize="0"/>
          <p:nvPr/>
        </p:nvPicPr>
        <p:blipFill>
          <a:blip r:embed="rId3">
            <a:alphaModFix/>
          </a:blip>
          <a:stretch>
            <a:fillRect/>
          </a:stretch>
        </p:blipFill>
        <p:spPr>
          <a:xfrm>
            <a:off x="999550" y="1029125"/>
            <a:ext cx="7153001" cy="3583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pic>
        <p:nvPicPr>
          <p:cNvPr id="102" name="Google Shape;102;p18"/>
          <p:cNvPicPr preferRelativeResize="0"/>
          <p:nvPr/>
        </p:nvPicPr>
        <p:blipFill>
          <a:blip r:embed="rId3">
            <a:alphaModFix/>
          </a:blip>
          <a:stretch>
            <a:fillRect/>
          </a:stretch>
        </p:blipFill>
        <p:spPr>
          <a:xfrm>
            <a:off x="977350" y="1170125"/>
            <a:ext cx="7222426" cy="33683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